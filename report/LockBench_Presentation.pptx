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640080"/>
            <a:ext cx="1280160" cy="128016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188720"/>
            <a:ext cx="2377440" cy="237744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737360"/>
            <a:ext cx="3474720" cy="347472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LockBench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automotive-radar chirp-PLL loop-filter designer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PVT-robustness verification  ·  machine-learning inverse design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Prasad</a:t>
            </a:r>
            <a:pPr indent="0" marL="0">
              <a:buNone/>
            </a:pPr>
            <a:r>
              <a:rPr lang="en-US" sz="14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24BEC0391    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M Bharat</a:t>
            </a:r>
            <a:pPr indent="0" marL="0">
              <a:buNone/>
            </a:pPr>
            <a:r>
              <a:rPr lang="en-US" sz="14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24BEC0289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controlbench.onrender.com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 chirp is made by a PLL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FMCW automotive radar sweeps a frequency chirp and listens to the echo to measure range and speed.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chirp is generated by a phase-locked loop (PLL).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part an engineer hand-tunes is the PLL loop filter — a resistor and two capacitors.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chirp settling, phase noise and stability — and must hold from −40 °C to +150 °C.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920240"/>
            <a:ext cx="4663440" cy="3566160"/>
          </a:xfrm>
          <a:prstGeom prst="roundRect">
            <a:avLst>
              <a:gd name="adj" fmla="val 1538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chirp signal chain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697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oscillator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172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detector + charge pump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6484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filter  (R, C₁, C₂)  ← design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1239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  ÷N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4599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 multiplier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074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GHz radar transmit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LOCKBENCH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 buildable, qualified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chip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LMX2594 · ADF5355 · ADF4351 — datasheet parameters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24231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radar targets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bandwidth, phase margin, temperature grade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24231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verify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R/C, then check every PVT corner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6024" y="242316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36024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result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values + Qualified verdict + charts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PLL is a feedback control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16223E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charge pump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514600"/>
            <a:ext cx="457200" cy="320040"/>
          </a:xfrm>
          <a:prstGeom prst="rightArrow">
            <a:avLst/>
          </a:prstGeom>
          <a:solidFill>
            <a:srgbClr val="93A6C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214884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16223E"/>
          </a:solidFill>
          <a:ln w="1651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1488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filter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514600"/>
            <a:ext cx="457200" cy="320040"/>
          </a:xfrm>
          <a:prstGeom prst="rightArrow">
            <a:avLst/>
          </a:prstGeom>
          <a:solidFill>
            <a:srgbClr val="93A6C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14884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16223E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1488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Kvco / 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214884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16223E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214884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N  feedback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L(s)  =  [ Icp · Kvco / (2πN) ] · Z(s) / 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VCO's 1/s plus the filter's pole at the origin make it a Type-II loop, so the loop filter's zero is what recovers phase margin.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linear charge-pump model of Gardner (1980) — the exact math LockBench implements.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design is produced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574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30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loop model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5877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real chip (Icp, Kvco, N) + candidate filter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0574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30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the filter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5877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R, C₁, C₂ from bandwidth + phase-margin targets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74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47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don't assume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050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margin, chirp settling, jitter peaking from L(s)/H(s)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474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547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temperature corners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0050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Kvco/Icp per AEC-Q100 grade; flag any violation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8920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965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77 GHz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4223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 multiplier: +20·log₁₀N phase noise, jitter invariant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8920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965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4223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 values, verdict, per-corner metrics, plots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stand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silicon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834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datasheet parameters of shipping synthesizer ICs — not toy numbers.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16223E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3317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7804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Temperature-robust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834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design across AEC-Q100 corners, not just at 25 °C. The core contribution.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3040" y="4297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8463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design that accelerates the physics model and is always re-verified by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16223E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3434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4297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live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48463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theory + RF/VLSI + ML + web, deployed at one URL on a safety-critical problem.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noise &amp; jitter at 77 GHz</a:t>
            </a:r>
            <a:endParaRPr lang="en-US" sz="3200" dirty="0"/>
          </a:p>
        </p:txBody>
      </p:sp>
      <p:pic>
        <p:nvPicPr>
          <p:cNvPr id="4" name="Image 0" descr="C:\Users\sneha_2\OneDrive\Desktop\Projects\ControlBench\docs\img\phase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498080" cy="38570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92024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 GHz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RF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333756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µs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settling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0" y="475488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16223E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ps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jitter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ADF/LMX-class 77 GHz radar profile · flat in-band, peaking bump at the loop bandwidth, VCO roll-off outside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the automotive temperature range</a:t>
            </a:r>
            <a:endParaRPr lang="en-US" sz="3200" dirty="0"/>
          </a:p>
        </p:txBody>
      </p:sp>
      <p:pic>
        <p:nvPicPr>
          <p:cNvPr id="4" name="Image 0" descr="C:\Users\sneha_2\OneDrive\Desktop\Projects\ControlBench\docs\img\pvt_cor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675120" cy="2836855"/>
          </a:xfrm>
          <a:prstGeom prst="rect">
            <a:avLst/>
          </a:prstGeom>
        </p:spPr>
      </p:pic>
      <p:pic>
        <p:nvPicPr>
          <p:cNvPr id="5" name="Image 1" descr="C:\Users\sneha_2\OneDrive\Desktop\Projects\ControlBench\docs\img\b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800"/>
            <a:ext cx="4297680" cy="221074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margin stays above the 45° spec at every corner; the loop-filter zero gives the phase bump at crossover (right).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Qualified across AEC-Q100 Grade 1 (−40 to +125 °C)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web application</a:t>
            </a:r>
            <a:endParaRPr lang="en-US" sz="3200" dirty="0"/>
          </a:p>
        </p:txBody>
      </p:sp>
      <p:pic>
        <p:nvPicPr>
          <p:cNvPr id="4" name="Image 0" descr="C:/Users/sneha_2/OneDrive/Desktop/Projects/ControlBench/report/screenshots/app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2688336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53796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app</a:t>
            </a:r>
            <a:endParaRPr lang="en-US" sz="1000" dirty="0"/>
          </a:p>
        </p:txBody>
      </p:sp>
      <p:pic>
        <p:nvPicPr>
          <p:cNvPr id="6" name="Image 1" descr="C:/Users/sneha_2/OneDrive/Desktop/Projects/ControlBench/report/screenshots/ver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91640"/>
            <a:ext cx="8138160" cy="23637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74720" y="4069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headline metric tiles</a:t>
            </a:r>
            <a:endParaRPr lang="en-US" sz="1100" dirty="0"/>
          </a:p>
        </p:txBody>
      </p:sp>
      <p:pic>
        <p:nvPicPr>
          <p:cNvPr id="8" name="Image 2" descr="C:/Users/sneha_2/OneDrive/Desktop/Projects/ControlBench/report/screenshots/loop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370832"/>
            <a:ext cx="6858000" cy="2560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74720" y="6537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loop-filter output (R / C values)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inverse design</a:t>
            </a:r>
            <a:endParaRPr lang="en-US" sz="3200" dirty="0"/>
          </a:p>
        </p:txBody>
      </p:sp>
      <p:pic>
        <p:nvPicPr>
          <p:cNvPr id="4" name="Image 0" descr="C:\Users\sneha_2\OneDrive\Desktop\Projects\ControlBench\docs\img\ml_p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49440" cy="31275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92024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predicts a design's worst-case-across-PVT performance instantly.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scans hundreds of designs in milliseconds and recommends the best one from your spec.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reproduces the physics model closely (left: phase margin; right: lock time) — and 'Apply' always re-runs the exact engine to verify.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 — and its honest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16223E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 (Plotly charts)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backend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 (NumPy, python-control)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service on Render, one URL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tests, GitHub Actions CI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16223E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PLL model (valid for BW ≪ fPFD)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noise / jitter are first-order estimates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×N multiplier to 77 GHz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grades → representative Kvco/Icp drift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ground truth is the model, not SPICE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640080"/>
            <a:ext cx="1280160" cy="128016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188720"/>
            <a:ext cx="2377440" cy="237744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737360"/>
            <a:ext cx="3474720" cy="3474720"/>
          </a:xfrm>
          <a:prstGeom prst="ellipse">
            <a:avLst/>
          </a:prstGeom>
          <a:solidFill>
            <a:srgbClr val="0B1120">
              <a:alpha val="0"/>
            </a:srgbClr>
          </a:solidFill>
          <a:ln w="9525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prove → deploy.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LockBench turns automotive-radar chirp-PLL loop-filter design into an instant, temperature-qualified, ML-accelerated workflow grounded in real device data.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9377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F. M. Gardner, “Charge-Pump Phase-Lock Loops,” IEEE Trans. Communications, 1980.   [2] “A Low-Phase-Noise 77-GHz FMCW Radar Transmitter with a 12.8-GHz PLL and ×6 Multiplier,” IEEE, 2016.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Prasad · 24BEC0391      Shreya M Bharat · 24BEC0289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2026-09-23T17:33:49Z</dcterms:created>
  <dcterms:modified xsi:type="dcterms:W3CDTF">2026-09-23T17:33:49Z</dcterms:modified>
</cp:coreProperties>
</file>